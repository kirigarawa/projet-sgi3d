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93E06-DC11-41FD-A67C-2ABB82F0E1D5}" v="36" dt="2026-01-15T12:49:05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viewer.diagrams.net/?tags=%7B%7D&amp;lightbox=1&amp;highlight=0000ff&amp;edit=_blank&amp;layers=1&amp;nav=1&amp;title=Diagramme%20de%20d%C3%A9ploiement%20SGI3D.drawio&amp;dark=auto#Uhttps%3A%2F%2Fdrive.google.com%2Fuc%3Fid%3D1kSIvM0lmktwcElt7CcP6p6atB8AoIBFs%26export%3Ddownload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274320"/>
            <a:ext cx="2743200" cy="27432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3200400"/>
            <a:ext cx="1828800" cy="18288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solidFill>
            <a:srgbClr val="9370DB"/>
          </a:solidFill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1111B"/>
                </a:solidFill>
              </a:defRPr>
            </a:pPr>
            <a:r>
              <a:t>BTS CIEL - OPTION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365760"/>
            <a:ext cx="1554480" cy="274320"/>
          </a:xfrm>
          <a:prstGeom prst="rect">
            <a:avLst/>
          </a:prstGeom>
          <a:solidFill>
            <a:srgbClr val="1E1E2E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DD6F4"/>
                </a:solidFill>
              </a:defRPr>
            </a:pPr>
            <a:r>
              <a:t>Année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Projet SGI3D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731520" cy="36576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D6F4"/>
                </a:solidFill>
              </a:defRPr>
            </a:pPr>
            <a:r>
              <a:t>Supervision et Gestion d'Imprimantes 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99B2"/>
                </a:solidFill>
              </a:defRPr>
            </a:pPr>
            <a:r>
              <a:t>Partie Commune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399B2"/>
                </a:solidFill>
              </a:defRPr>
            </a:pPr>
            <a:r>
              <a:t>En partenariat avec :</a:t>
            </a:r>
          </a:p>
          <a:p>
            <a:pPr>
              <a:defRPr sz="1400" b="1">
                <a:solidFill>
                  <a:srgbClr val="CDD6F4"/>
                </a:solidFill>
              </a:defRPr>
            </a:pPr>
            <a:r>
              <a:t>Le Campus Caraïbéen des 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480560"/>
            <a:ext cx="1828800" cy="274320"/>
          </a:xfrm>
          <a:prstGeom prst="rect">
            <a:avLst/>
          </a:prstGeom>
          <a:solidFill>
            <a:srgbClr val="1E1E2E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6F4"/>
                </a:solidFill>
              </a:defRPr>
            </a:pPr>
            <a:r>
              <a:t>Lycée Joseph GAILLARD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640080" cy="36576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DD6F4"/>
                </a:solidFill>
              </a:defRPr>
            </a:pPr>
            <a:r>
              <a:t>Présentation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5720" cy="54864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DD6F4"/>
                </a:solidFill>
              </a:defRPr>
            </a:pPr>
            <a:r>
              <a:t>Cahier des charges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45720" cy="54864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DD6F4"/>
                </a:solidFill>
              </a:defRPr>
            </a:pPr>
            <a:r>
              <a:t>Modélisation du projet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45720" cy="91440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Diagramme de contexte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3639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Diagrammes de cas d'utilisations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92424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Diagramme de déploiement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09728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DD6F4"/>
                </a:solidFill>
              </a:defRPr>
            </a:pPr>
            <a:r>
              <a:t>Planification du projet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097280"/>
            <a:ext cx="45720" cy="118872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69164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Diagramme de GANTT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4767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Espace collaboratif : Trello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03704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Cahier de recette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5973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99B2"/>
                </a:solidFill>
              </a:defRPr>
            </a:pPr>
            <a:r>
              <a:t>• Glossaire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657600"/>
            <a:ext cx="3657600" cy="1097280"/>
          </a:xfrm>
          <a:prstGeom prst="rect">
            <a:avLst/>
          </a:prstGeom>
          <a:solidFill>
            <a:srgbClr val="1E1E2E"/>
          </a:solidFill>
          <a:ln w="254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3794760"/>
            <a:ext cx="2545890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370DB"/>
                </a:solidFill>
              </a:defRPr>
            </a:pPr>
            <a:r>
              <a:rPr err="1"/>
              <a:t>Projet</a:t>
            </a:r>
            <a:r>
              <a:t> SGI3D</a:t>
            </a:r>
          </a:p>
          <a:p>
            <a:pPr>
              <a:defRPr sz="1000">
                <a:solidFill>
                  <a:srgbClr val="9399B2"/>
                </a:solidFill>
              </a:defRPr>
            </a:pPr>
            <a:r>
              <a:t>Système de supervision pour </a:t>
            </a:r>
            <a:r>
              <a:rPr err="1"/>
              <a:t>imprimantes</a:t>
            </a:r>
            <a:r>
              <a:t> 3D</a:t>
            </a:r>
            <a:endParaRPr lang="fr-FR"/>
          </a:p>
          <a:p>
            <a:pPr>
              <a:defRPr sz="1000">
                <a:solidFill>
                  <a:srgbClr val="9399B2"/>
                </a:solidFill>
              </a:defRPr>
            </a:pPr>
            <a:r>
              <a:t>avec </a:t>
            </a:r>
            <a:r>
              <a:rPr err="1"/>
              <a:t>détection</a:t>
            </a:r>
            <a:r>
              <a:t> </a:t>
            </a:r>
            <a:r>
              <a:rPr err="1"/>
              <a:t>d'incidents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457200"/>
            <a:ext cx="2286000" cy="22860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200400"/>
            <a:ext cx="1645920" cy="164592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914400" cy="320040"/>
          </a:xfrm>
          <a:prstGeom prst="rect">
            <a:avLst/>
          </a:prstGeom>
          <a:solidFill>
            <a:srgbClr val="FF79C6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199" y="2103120"/>
            <a:ext cx="368960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err="1"/>
              <a:t>Présentation</a:t>
            </a:r>
            <a:endParaRPr/>
          </a:p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0" y="3108960"/>
            <a:ext cx="914400" cy="36576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399B2"/>
                </a:solidFill>
              </a:defRPr>
            </a:pPr>
            <a:r>
              <a:t>Projet SGI3D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Contexte et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70DB"/>
                </a:solidFill>
              </a:defRPr>
            </a:pPr>
            <a:r>
              <a:t>📍 Contexte</a:t>
            </a:r>
          </a:p>
          <a:p>
            <a:pPr>
              <a:spcBef>
                <a:spcPts val="800"/>
              </a:spcBef>
              <a:defRPr sz="1200">
                <a:solidFill>
                  <a:srgbClr val="CDD6F4"/>
                </a:solidFill>
              </a:defRPr>
            </a:pPr>
            <a:r>
              <a:t>Projet BTS CIEL IR en partenariat avec le Campus Caraïbéen des Arts pour la création d'un FABLAB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05840"/>
            <a:ext cx="393192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FF7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9C6"/>
                </a:solidFill>
              </a:defRPr>
            </a:pPr>
            <a:r>
              <a:t>🎯 Objectifs</a:t>
            </a:r>
          </a:p>
          <a:p>
            <a:pPr>
              <a:spcBef>
                <a:spcPts val="800"/>
              </a:spcBef>
              <a:defRPr sz="1200">
                <a:solidFill>
                  <a:srgbClr val="CDD6F4"/>
                </a:solidFill>
              </a:defRPr>
            </a:pPr>
            <a:r>
              <a:t>Créer un système centralisé pour contrôler, surveiller et sécuriser plusieurs imprimantes 3D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DD6F4"/>
                </a:solidFill>
              </a:defRPr>
            </a:pPr>
            <a:r>
              <a:t>🔧 Contrôle à distance des imprimantes</a:t>
            </a:r>
          </a:p>
          <a:p>
            <a:pPr>
              <a:spcAft>
                <a:spcPts val="600"/>
              </a:spcAft>
              <a:defRPr sz="1300">
                <a:solidFill>
                  <a:srgbClr val="CDD6F4"/>
                </a:solidFill>
              </a:defRPr>
            </a:pPr>
            <a:r>
              <a:t>📹 Surveillance vidéo en temps réel</a:t>
            </a:r>
          </a:p>
          <a:p>
            <a:pPr>
              <a:spcAft>
                <a:spcPts val="600"/>
              </a:spcAft>
              <a:defRPr sz="1300">
                <a:solidFill>
                  <a:srgbClr val="CDD6F4"/>
                </a:solidFill>
              </a:defRPr>
            </a:pPr>
            <a:r>
              <a:t>🔥 Détection de fumée et alertes</a:t>
            </a:r>
          </a:p>
          <a:p>
            <a:pPr>
              <a:spcAft>
                <a:spcPts val="600"/>
              </a:spcAft>
              <a:defRPr sz="1300">
                <a:solidFill>
                  <a:srgbClr val="CDD6F4"/>
                </a:solidFill>
              </a:defRPr>
            </a:pPr>
            <a:r>
              <a:t>⚡ Continuité en cas de coupure électrique</a:t>
            </a:r>
          </a:p>
          <a:p>
            <a:pPr>
              <a:spcAft>
                <a:spcPts val="600"/>
              </a:spcAft>
              <a:defRPr sz="1300">
                <a:solidFill>
                  <a:srgbClr val="CDD6F4"/>
                </a:solidFill>
              </a:defRPr>
            </a:pPr>
            <a:r>
              <a:t>👥 Gestion des utilisateurs et droits d'accès</a:t>
            </a:r>
          </a:p>
          <a:p>
            <a:pPr>
              <a:defRPr sz="1300">
                <a:solidFill>
                  <a:srgbClr val="CDD6F4"/>
                </a:solidFill>
              </a:defRPr>
            </a:pPr>
            <a:r>
              <a:t>📱 Accès web et mobile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Cahier des charges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Fonctionnalités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Gestion des impressions 3D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Surveillance vidéo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Détection de fumée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Notifications automatiques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Gestion des fichiers STL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Historique des événements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05840"/>
            <a:ext cx="256032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B4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143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8EFF"/>
                </a:solidFill>
              </a:defRPr>
            </a:pPr>
            <a:r>
              <a:t>Contraintes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Budget max : 1000€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Logiciels libres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Basse consommation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Compatible Windows/Linux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Interface responsive</a:t>
            </a:r>
          </a:p>
          <a:p>
            <a:pPr>
              <a:spcBef>
                <a:spcPts val="600"/>
              </a:spcBef>
              <a:defRPr sz="1100">
                <a:solidFill>
                  <a:srgbClr val="9399B2"/>
                </a:solidFill>
              </a:defRPr>
            </a:pPr>
            <a:r>
              <a:t>• Multi-imprimantes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256032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FF7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79C6"/>
                </a:solidFill>
              </a:defRPr>
            </a:pPr>
            <a:r>
              <a:t>Utilisateurs</a:t>
            </a:r>
          </a:p>
          <a:p>
            <a:pPr>
              <a:spcBef>
                <a:spcPts val="600"/>
              </a:spcBef>
              <a:defRPr sz="1100" b="1">
                <a:solidFill>
                  <a:srgbClr val="CDD6F4"/>
                </a:solidFill>
              </a:defRPr>
            </a:pPr>
            <a:r>
              <a:t>Administrateur</a:t>
            </a:r>
          </a:p>
          <a:p>
            <a:pPr>
              <a:spcBef>
                <a:spcPts val="600"/>
              </a:spcBef>
              <a:defRPr sz="1100" b="0">
                <a:solidFill>
                  <a:srgbClr val="9399B2"/>
                </a:solidFill>
              </a:defRPr>
            </a:pPr>
            <a:r>
              <a:t>• Gestion complète</a:t>
            </a:r>
          </a:p>
          <a:p>
            <a:pPr>
              <a:spcBef>
                <a:spcPts val="600"/>
              </a:spcBef>
              <a:defRPr sz="1100" b="1">
                <a:solidFill>
                  <a:srgbClr val="CDD6F4"/>
                </a:solidFill>
              </a:defRPr>
            </a:pPr>
            <a:r>
              <a:t>Collaborateur</a:t>
            </a:r>
          </a:p>
          <a:p>
            <a:pPr>
              <a:spcBef>
                <a:spcPts val="600"/>
              </a:spcBef>
              <a:defRPr sz="1100" b="0">
                <a:solidFill>
                  <a:srgbClr val="9399B2"/>
                </a:solidFill>
              </a:defRPr>
            </a:pPr>
            <a:r>
              <a:t>• Lancer impressions</a:t>
            </a:r>
          </a:p>
          <a:p>
            <a:pPr>
              <a:spcBef>
                <a:spcPts val="600"/>
              </a:spcBef>
              <a:defRPr sz="1100" b="1">
                <a:solidFill>
                  <a:srgbClr val="CDD6F4"/>
                </a:solidFill>
              </a:defRPr>
            </a:pPr>
            <a:r>
              <a:t>Étudiant</a:t>
            </a:r>
          </a:p>
          <a:p>
            <a:pPr>
              <a:spcBef>
                <a:spcPts val="600"/>
              </a:spcBef>
              <a:defRPr sz="1100" b="0">
                <a:solidFill>
                  <a:srgbClr val="9399B2"/>
                </a:solidFill>
              </a:defRPr>
            </a:pPr>
            <a:r>
              <a:t>• Consultation état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931" y="212583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Diagramme de 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81AFA358-6108-DCBD-DDE8-307DAF3962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278EB-1145-0A8A-461C-CCAF796AB787}"/>
              </a:ext>
            </a:extLst>
          </p:cNvPr>
          <p:cNvSpPr/>
          <p:nvPr/>
        </p:nvSpPr>
        <p:spPr>
          <a:xfrm>
            <a:off x="698106" y="868681"/>
            <a:ext cx="7747788" cy="4062236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6" name="Image 1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4B2A14D-2652-C2FD-0C52-F83682AD7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06" y="912129"/>
            <a:ext cx="7747787" cy="4018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 d'utilisation - Administrateur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082" y="1005840"/>
            <a:ext cx="4219834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 d'utilisation - Collaborateur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455" y="1005840"/>
            <a:ext cx="5217088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 d'utilisation -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29" y="1005840"/>
            <a:ext cx="4955341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 d'utilisation - Étudiant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1" y="1005840"/>
            <a:ext cx="7263457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Diagramme de Déploiement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645920"/>
            <a:ext cx="5486400" cy="1828800"/>
          </a:xfrm>
          <a:prstGeom prst="rect">
            <a:avLst/>
          </a:prstGeom>
          <a:solidFill>
            <a:srgbClr val="1E1E2E"/>
          </a:solidFill>
          <a:ln w="381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187451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70DB"/>
                </a:solidFill>
              </a:defRPr>
            </a:pPr>
            <a:r>
              <a:t>🔗 Lien vers le diagramme interactif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377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79C6"/>
                </a:solidFill>
              </a:defRPr>
            </a:pPr>
            <a:r>
              <a:rPr err="1">
                <a:hlinkClick r:id="rId2"/>
              </a:rPr>
              <a:t>Cliquez</a:t>
            </a:r>
            <a:r>
              <a:rPr>
                <a:hlinkClick r:id="rId2"/>
              </a:rPr>
              <a:t> </a:t>
            </a:r>
            <a:r>
              <a:rPr err="1">
                <a:hlinkClick r:id="rId2"/>
              </a:rPr>
              <a:t>ici</a:t>
            </a:r>
            <a:r>
              <a:rPr>
                <a:hlinkClick r:id="rId2"/>
              </a:rPr>
              <a:t> pour </a:t>
            </a:r>
            <a:r>
              <a:rPr err="1">
                <a:hlinkClick r:id="rId2"/>
              </a:rPr>
              <a:t>ouvrir</a:t>
            </a:r>
            <a:r>
              <a:rPr>
                <a:hlinkClick r:id="rId2"/>
              </a:rPr>
              <a:t> le </a:t>
            </a:r>
            <a:r>
              <a:rPr err="1">
                <a:hlinkClick r:id="rId2"/>
              </a:rPr>
              <a:t>diagramme</a:t>
            </a:r>
            <a:endParaRPr>
              <a:hlinkClick r:id="rId2"/>
            </a:endParaRPr>
          </a:p>
          <a:p>
            <a:br>
              <a:rPr/>
            </a:br>
            <a:r>
              <a:rPr err="1"/>
              <a:t>Diagramme</a:t>
            </a:r>
            <a:r>
              <a:t> de </a:t>
            </a:r>
            <a:r>
              <a:rPr err="1"/>
              <a:t>déploiement</a:t>
            </a:r>
            <a:r>
              <a:t> du </a:t>
            </a:r>
            <a:r>
              <a:rPr err="1"/>
              <a:t>système</a:t>
            </a:r>
            <a:r>
              <a:t> SGI3D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9399B2"/>
                </a:solidFill>
              </a:defRPr>
            </a:pPr>
            <a:r>
              <a:t>💡 Le diagramme s'ouvrira dans diagrams.net</a:t>
            </a:r>
            <a:br/>
            <a:r>
              <a:t>pour une visualisation interactive et détaillée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457200"/>
            <a:ext cx="2286000" cy="22860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200400"/>
            <a:ext cx="1645920" cy="164592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914400" cy="320040"/>
          </a:xfrm>
          <a:prstGeom prst="rect">
            <a:avLst/>
          </a:prstGeom>
          <a:solidFill>
            <a:srgbClr val="FF79C6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8076" y="2103120"/>
            <a:ext cx="360784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Planification</a:t>
            </a:r>
          </a:p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0" y="3108960"/>
            <a:ext cx="914400" cy="36576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Diagramme de GANTT -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500" y="1005840"/>
            <a:ext cx="5700998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Diagramme de GANTT -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7107"/>
            <a:ext cx="8229600" cy="298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Équipe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5486400" cy="1005840"/>
          </a:xfrm>
          <a:prstGeom prst="rect">
            <a:avLst/>
          </a:prstGeom>
          <a:solidFill>
            <a:srgbClr val="1E1E2E"/>
          </a:solidFill>
          <a:ln w="254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508760"/>
            <a:ext cx="512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fr-FR"/>
              <a:t>Mondor Matthieu</a:t>
            </a:r>
          </a:p>
          <a:p>
            <a:pPr>
              <a:spcBef>
                <a:spcPts val="600"/>
              </a:spcBef>
              <a:defRPr sz="1300">
                <a:solidFill>
                  <a:srgbClr val="9399B2"/>
                </a:solidFill>
              </a:defRPr>
            </a:pPr>
            <a:r>
              <a:rPr err="1"/>
              <a:t>Imprimantes</a:t>
            </a:r>
            <a:r>
              <a:t>, </a:t>
            </a:r>
            <a:r>
              <a:rPr err="1"/>
              <a:t>caméras</a:t>
            </a:r>
            <a:r>
              <a:t>, </a:t>
            </a:r>
            <a:r>
              <a:rPr err="1"/>
              <a:t>sécurité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2560320"/>
            <a:ext cx="5486400" cy="1005840"/>
          </a:xfrm>
          <a:prstGeom prst="rect">
            <a:avLst/>
          </a:prstGeom>
          <a:solidFill>
            <a:srgbClr val="1E1E2E"/>
          </a:solidFill>
          <a:ln w="254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697480"/>
            <a:ext cx="512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fr-FR" err="1"/>
              <a:t>Jolan</a:t>
            </a:r>
            <a:r>
              <a:rPr lang="fr-FR"/>
              <a:t> </a:t>
            </a:r>
            <a:r>
              <a:rPr lang="fr-FR" err="1"/>
              <a:t>Schambourg</a:t>
            </a:r>
            <a:endParaRPr lang="fr-FR"/>
          </a:p>
          <a:p>
            <a:pPr>
              <a:spcBef>
                <a:spcPts val="600"/>
              </a:spcBef>
              <a:defRPr sz="1300">
                <a:solidFill>
                  <a:srgbClr val="9399B2"/>
                </a:solidFill>
              </a:defRPr>
            </a:pPr>
            <a:r>
              <a:t>Application mobile et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749040"/>
            <a:ext cx="5486400" cy="1005840"/>
          </a:xfrm>
          <a:prstGeom prst="rect">
            <a:avLst/>
          </a:prstGeom>
          <a:solidFill>
            <a:srgbClr val="1E1E2E"/>
          </a:solidFill>
          <a:ln w="254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3886200"/>
            <a:ext cx="512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fr-FR" err="1"/>
              <a:t>Kevens</a:t>
            </a:r>
            <a:r>
              <a:rPr lang="fr-FR"/>
              <a:t> </a:t>
            </a:r>
            <a:r>
              <a:rPr lang="fr-FR" err="1"/>
              <a:t>Vaubien</a:t>
            </a:r>
            <a:endParaRPr lang="fr-FR"/>
          </a:p>
          <a:p>
            <a:pPr>
              <a:spcBef>
                <a:spcPts val="600"/>
              </a:spcBef>
              <a:defRPr sz="1300">
                <a:solidFill>
                  <a:srgbClr val="9399B2"/>
                </a:solidFill>
              </a:defRPr>
            </a:pPr>
            <a:r>
              <a:rPr err="1"/>
              <a:t>Serveur</a:t>
            </a:r>
            <a:r>
              <a:t>, base de données, </a:t>
            </a:r>
            <a:r>
              <a:rPr err="1"/>
              <a:t>détection</a:t>
            </a:r>
            <a:r>
              <a:t> </a:t>
            </a:r>
            <a:r>
              <a:rPr err="1"/>
              <a:t>fumée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Cahier de Recettes 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99B2"/>
                </a:solidFill>
              </a:defRPr>
            </a:pPr>
            <a:r>
              <a:t>Tests de validation des fonctionnalités du système SGI3D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1051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Authentification utilisateur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10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9456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Notification fin d'impression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05456"/>
            <a:ext cx="786384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786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Lancement impression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578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6265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Détection fumée + arrêt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96265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73552"/>
            <a:ext cx="786384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4670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Consultation état à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4670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307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307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Gestion coupure électrique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7307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41648"/>
            <a:ext cx="786384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14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Suivi avancement impression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114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49884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8EFF"/>
                </a:solidFill>
              </a:defRPr>
            </a:pPr>
            <a:r>
              <a:t>R8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49884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6F4"/>
                </a:solidFill>
              </a:defRPr>
            </a:pPr>
            <a:r>
              <a:t>Calcul coût et matière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4988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8320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fr-FR"/>
              <a:t>Extraie </a:t>
            </a:r>
            <a:r>
              <a:t>Glossaries </a:t>
            </a:r>
            <a:r>
              <a:rPr dirty="0"/>
              <a:t>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SGI3D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399B2"/>
                </a:solidFill>
              </a:defRPr>
            </a:pPr>
            <a:r>
              <a:t>Système de Supervision et de Gestion d'Imprimantes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FABLAB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399B2"/>
                </a:solidFill>
              </a:defRPr>
            </a:pPr>
            <a:r>
              <a:t>Atelier équipé de machines numériques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Capteur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399B2"/>
                </a:solidFill>
              </a:defRPr>
            </a:pPr>
            <a:r>
              <a:t>Appareil de détection (fumée, température)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Caméra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399B2"/>
                </a:solidFill>
              </a:defRPr>
            </a:pPr>
            <a:r>
              <a:t>Caméra connectée au réseau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Onduleur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399B2"/>
                </a:solidFill>
              </a:defRPr>
            </a:pPr>
            <a:r>
              <a:rPr dirty="0"/>
              <a:t>Batterie de secours (UPS)</a:t>
            </a:r>
            <a:r>
              <a:rPr lang="fr-FR" dirty="0"/>
              <a:t> + protège des surtension 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70DB"/>
                </a:solidFill>
              </a:defRPr>
            </a:pPr>
            <a:r>
              <a:t>STL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399B2"/>
                </a:solidFill>
              </a:defRPr>
            </a:pPr>
            <a:r>
              <a:t>Format de fichier 3D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74320" y="2286000"/>
            <a:ext cx="1828800" cy="18288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2645" y="3017520"/>
            <a:ext cx="4658711" cy="5950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DD6F4"/>
                </a:solidFill>
              </a:defRPr>
            </a:pPr>
            <a:r>
              <a:t>Jolan SCHAMBOURG • Keven</a:t>
            </a:r>
            <a:r>
              <a:rPr lang="fr-FR"/>
              <a:t>s</a:t>
            </a:r>
            <a:r>
              <a:t> VAUBIEN • Mondor MATTHIEU</a:t>
            </a:r>
          </a:p>
          <a:p>
            <a:pPr algn="ctr">
              <a:spcBef>
                <a:spcPts val="800"/>
              </a:spcBef>
              <a:defRPr sz="1200">
                <a:solidFill>
                  <a:srgbClr val="9399B2"/>
                </a:solidFill>
              </a:defRPr>
            </a:pPr>
            <a:r>
              <a:t>BTS CIEL IR - Lycée Joseph GAILLARD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445</Words>
  <Application>Microsoft Office PowerPoint</Application>
  <PresentationFormat>Affichage à l'écran (16:9)</PresentationFormat>
  <Paragraphs>126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Matthieu Mondor</cp:lastModifiedBy>
  <cp:revision>2</cp:revision>
  <dcterms:created xsi:type="dcterms:W3CDTF">2013-01-27T09:14:16Z</dcterms:created>
  <dcterms:modified xsi:type="dcterms:W3CDTF">2026-02-02T15:46:36Z</dcterms:modified>
  <cp:category/>
</cp:coreProperties>
</file>